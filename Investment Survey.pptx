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75" r:id="rId10"/>
    <p:sldId id="258" r:id="rId11"/>
    <p:sldId id="257" r:id="rId12"/>
    <p:sldId id="271" r:id="rId13"/>
    <p:sldId id="273" r:id="rId14"/>
    <p:sldId id="274" r:id="rId15"/>
    <p:sldId id="272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74" y="91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CFB0-C361-FA78-EFBA-91DB68B11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B9634-5353-3D83-3666-157EB653C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365D-7FA8-E721-29C7-73E50E65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F399-43EE-94AC-A233-9B6CDB43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98F79-5462-9986-E5A6-01535660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9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7B1D-B4AB-85D0-EC7B-95AFB3A5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DA06-6330-E089-F286-6E250AEC5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FBCC5-CA3C-5923-5D28-A76903CF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C248-10F9-5EA2-CD55-7FBF2A18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1F21D-CB9D-E442-A62A-0A0FDD70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6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5A78-3985-B740-0B1A-D8A0C951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5FFD-F19B-AB4F-C901-C002DE270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FE81C-D094-1BB0-D4BC-D7C529C6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BB30-8998-308B-161A-1DFCAD1C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843F-9759-C13F-E0F8-2E2AC4DB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6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6631-5EA2-59D2-AEB4-0DBA5B67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6891B-C574-AFF1-BD78-478617F8C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C86A6-9CC6-83CE-C173-227DF2CFE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D9ADB-859A-8FE7-7C6C-8C04FD5B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A8DE3-62A6-C563-8874-7C70CE00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0D766-3878-9D62-3705-4FD7D64A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AA24-F895-D89C-17CC-3DAC8331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B2BA0-D676-E794-7DB6-2E8E64BF4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50239-ADD5-22D2-3489-D2157E1B5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5044D-E988-6AF1-380A-8D44435E4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70CFC-92DE-D746-07BC-003037A48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D1DE7-77E9-41BD-48CB-464AD87F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41833-5091-AF2C-4ECB-A54A7930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CD4D3-370A-8567-41D9-64DB3D1A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2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A829-DCDC-BEE7-B4AE-CFFAB5F8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77649-D4D6-1A13-8F4C-0F3DF0A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A339E-C5AA-F351-B9E2-AC4105E5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55C7C-045F-B461-1C8D-776440AC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6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32055-73C9-AC68-BD52-9577C20A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4A8542-CA4C-657B-A5A0-EB3E048F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D87CC-5FB6-6088-8EBD-EE64B41F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FCBF-0E95-FD57-9E35-F1CC6A9D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ACDE7-EC2B-8684-759E-76E52173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421BF-E5F9-8884-AA73-B7368F8A1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6FFC5-B100-04BD-D236-149ED49E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B6782-1068-1ADF-ACCC-61F1FBF6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0B1F8-D4E1-8669-FE0D-C76E6207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1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82F7-1D0D-466A-A7D3-4148DE0A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482E6-25F3-3C98-BE4A-AF1068956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E13F2-0919-2476-F3AF-9244BA694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25B4F-915A-DC23-F106-3D790510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6F5F8-E9BC-12C7-3048-CB366906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933C-E3DC-48A6-9D64-301F171D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0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9D4D-D6A2-4D62-FB29-60776859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2D74-FB5D-E40E-CCB9-898AE3CD6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7A9D-6098-158E-46D0-19A3FF67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1270A-4E36-BF59-7099-D89ACFA9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8F14-7EC7-FEB2-0721-287FE958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B7591-2FD1-405B-12D1-2D7F8A8E1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DF778-165F-CEF0-B1EB-65AFA4D21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F334E-CCDF-01E7-4DAC-FFEDECA5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019F7-3DCD-DECC-1A79-489AC2DC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B62D6-7678-C257-C955-23D30C8F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5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75000"/>
              </a:schemeClr>
            </a:gs>
            <a:gs pos="81000">
              <a:schemeClr val="accent6">
                <a:lumMod val="60000"/>
                <a:lumOff val="40000"/>
              </a:schemeClr>
            </a:gs>
            <a:gs pos="92000">
              <a:schemeClr val="accent6">
                <a:lumMod val="40000"/>
                <a:lumOff val="60000"/>
              </a:schemeClr>
            </a:gs>
            <a:gs pos="95000">
              <a:schemeClr val="accent6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36150-630A-CAA2-1F71-FA22686E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43935-E327-7091-E832-5B213EE5C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3AC84-5D9E-0BFC-785F-FA04B7AC9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DD2AB-50F0-4EF2-8D0A-9843421E428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30068-A276-25CE-69A0-8CC51A91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E6E5-8DEF-1D38-9296-F0519E181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B48B5-60E6-441A-8D63-9A0ED374E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0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1D80-4AF8-4D0D-0687-BAA6DDD715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Investment 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F300B-72AB-4968-E31D-0D9A0612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quick look</a:t>
            </a:r>
          </a:p>
        </p:txBody>
      </p:sp>
    </p:spTree>
    <p:extLst>
      <p:ext uri="{BB962C8B-B14F-4D97-AF65-F5344CB8AC3E}">
        <p14:creationId xmlns:p14="http://schemas.microsoft.com/office/powerpoint/2010/main" val="327726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F525-70A9-DB4C-F5AC-2113C3DE2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573" y="0"/>
            <a:ext cx="4505739" cy="1184380"/>
          </a:xfrm>
        </p:spPr>
        <p:txBody>
          <a:bodyPr/>
          <a:lstStyle/>
          <a:p>
            <a:pPr algn="ctr"/>
            <a:r>
              <a:rPr lang="en-US" dirty="0"/>
              <a:t>Assignment </a:t>
            </a:r>
            <a:br>
              <a:rPr lang="en-US" dirty="0"/>
            </a:br>
            <a:r>
              <a:rPr lang="en-US" sz="1600" dirty="0"/>
              <a:t>(Hope I have this correct)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FF9F-77FA-0CCD-B176-F5A5FF562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40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sz="7400" dirty="0"/>
              <a:t>We were assigned a database.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sz="7400" dirty="0"/>
              <a:t>Use Cloud Azure to process this database as a means of introducing us to Cloud Azure.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lphaLcPeriod"/>
            </a:pP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Use Azure </a:t>
            </a:r>
            <a:r>
              <a:rPr lang="en-US" altLang="en-US" sz="4300" dirty="0">
                <a:solidFill>
                  <a:srgbClr val="1D1C1D"/>
                </a:solidFill>
              </a:rPr>
              <a:t>Data</a:t>
            </a: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 Factory to create </a:t>
            </a:r>
            <a:r>
              <a:rPr lang="en-US" altLang="en-US" sz="4300" dirty="0" err="1">
                <a:solidFill>
                  <a:srgbClr val="1D1C1D"/>
                </a:solidFill>
                <a:latin typeface="Slack-Lato"/>
              </a:rPr>
              <a:t>Datalake</a:t>
            </a: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lphaLcPeriod"/>
            </a:pP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Use Azure Spark to create Data Warehouse.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lphaLcPeriod"/>
            </a:pP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Use Azure Synapse to create Data Mart.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lphaLcPeriod"/>
            </a:pP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Connect SQL with Azure Synapse to backup data.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lphaLcPeriod"/>
            </a:pP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Connect </a:t>
            </a:r>
            <a:r>
              <a:rPr lang="en-US" altLang="en-US" sz="4300" dirty="0" err="1">
                <a:solidFill>
                  <a:srgbClr val="1D1C1D"/>
                </a:solidFill>
                <a:latin typeface="Slack-Lato"/>
              </a:rPr>
              <a:t>PowerBI</a:t>
            </a:r>
            <a:r>
              <a:rPr lang="en-US" altLang="en-US" sz="4300" dirty="0">
                <a:solidFill>
                  <a:srgbClr val="1D1C1D"/>
                </a:solidFill>
                <a:latin typeface="Slack-Lato"/>
              </a:rPr>
              <a:t> with Azure Synapse.</a:t>
            </a:r>
            <a:endParaRPr lang="en-US" altLang="en-US" sz="2500" dirty="0"/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altLang="en-US" sz="7400" dirty="0">
                <a:solidFill>
                  <a:srgbClr val="1D1C1D"/>
                </a:solidFill>
                <a:latin typeface="Slack-Lato"/>
              </a:rPr>
              <a:t>Create a </a:t>
            </a:r>
            <a:r>
              <a:rPr lang="en-US" altLang="en-US" sz="7400" dirty="0" err="1">
                <a:solidFill>
                  <a:srgbClr val="1D1C1D"/>
                </a:solidFill>
                <a:latin typeface="Slack-Lato"/>
              </a:rPr>
              <a:t>PowerBI</a:t>
            </a:r>
            <a:r>
              <a:rPr lang="en-US" altLang="en-US" sz="7400" dirty="0">
                <a:solidFill>
                  <a:srgbClr val="1D1C1D"/>
                </a:solidFill>
                <a:latin typeface="Slack-Lato"/>
              </a:rPr>
              <a:t> presentation of this database after it has been processed through Cloud Azure.</a:t>
            </a:r>
            <a:endParaRPr lang="en-US" sz="3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92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1E26-B945-D7A5-5196-E0BD2772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626" y="34182"/>
            <a:ext cx="5463209" cy="1293710"/>
          </a:xfrm>
        </p:spPr>
        <p:txBody>
          <a:bodyPr/>
          <a:lstStyle/>
          <a:p>
            <a:pPr algn="ctr"/>
            <a:r>
              <a:rPr lang="en-US" dirty="0"/>
              <a:t>Assignment 1</a:t>
            </a:r>
            <a:br>
              <a:rPr lang="en-US" dirty="0"/>
            </a:br>
            <a:r>
              <a:rPr lang="en-US" sz="2800" dirty="0"/>
              <a:t>The bits accomplished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B2F3-A562-E704-38EE-A5CEAB05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955"/>
            <a:ext cx="10515600" cy="2996732"/>
          </a:xfrm>
        </p:spPr>
        <p:txBody>
          <a:bodyPr>
            <a:normAutofit/>
          </a:bodyPr>
          <a:lstStyle/>
          <a:p>
            <a:pPr marL="914400" lvl="1" indent="-457200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dirty="0">
                <a:solidFill>
                  <a:srgbClr val="1D1C1D"/>
                </a:solidFill>
                <a:highlight>
                  <a:srgbClr val="00FF00"/>
                </a:highlight>
                <a:cs typeface="Arial" panose="020B0604020202020204" pitchFamily="34" charset="0"/>
              </a:rPr>
              <a:t>Use Azure Data Factory to create </a:t>
            </a:r>
            <a:r>
              <a:rPr lang="en-US" altLang="en-US" sz="2000" dirty="0" err="1">
                <a:solidFill>
                  <a:srgbClr val="1D1C1D"/>
                </a:solidFill>
                <a:highlight>
                  <a:srgbClr val="00FF00"/>
                </a:highlight>
                <a:cs typeface="Arial" panose="020B0604020202020204" pitchFamily="34" charset="0"/>
              </a:rPr>
              <a:t>Datalake</a:t>
            </a:r>
            <a:r>
              <a:rPr lang="en-US" altLang="en-US" sz="2000" dirty="0">
                <a:solidFill>
                  <a:srgbClr val="1D1C1D"/>
                </a:solidFill>
                <a:highlight>
                  <a:srgbClr val="00FF00"/>
                </a:highlight>
                <a:cs typeface="Arial" panose="020B0604020202020204" pitchFamily="34" charset="0"/>
              </a:rPr>
              <a:t>. Accomplished</a:t>
            </a:r>
          </a:p>
          <a:p>
            <a:pPr marL="914400" lvl="1" indent="-457200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dirty="0">
                <a:solidFill>
                  <a:srgbClr val="1D1C1D"/>
                </a:solidFill>
                <a:highlight>
                  <a:srgbClr val="00FF00"/>
                </a:highlight>
                <a:cs typeface="Arial" panose="020B0604020202020204" pitchFamily="34" charset="0"/>
              </a:rPr>
              <a:t>Use Azure Spark to create Data Warehouse. Accomplished</a:t>
            </a:r>
          </a:p>
          <a:p>
            <a:pPr marL="914400" lvl="1" indent="-457200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dirty="0">
                <a:solidFill>
                  <a:srgbClr val="1D1C1D"/>
                </a:solidFill>
                <a:highlight>
                  <a:srgbClr val="00FF00"/>
                </a:highlight>
                <a:cs typeface="Arial" panose="020B0604020202020204" pitchFamily="34" charset="0"/>
              </a:rPr>
              <a:t>Use Azure Synapse to create Data Mart. Accomplished</a:t>
            </a:r>
          </a:p>
        </p:txBody>
      </p:sp>
    </p:spTree>
    <p:extLst>
      <p:ext uri="{BB962C8B-B14F-4D97-AF65-F5344CB8AC3E}">
        <p14:creationId xmlns:p14="http://schemas.microsoft.com/office/powerpoint/2010/main" val="344428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F716-FF1E-129D-F23C-BD20B326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EDA2-0239-1FE9-A370-B20B37E7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C981-ECE7-15D8-965F-26CC1C53B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64" y="1825625"/>
            <a:ext cx="10875335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lphaLcPeriod" startAt="4"/>
            </a:pPr>
            <a:r>
              <a:rPr lang="en-US" altLang="en-US" sz="20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SQL with Azure Synapse to backup data. 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Unsure</a:t>
            </a:r>
          </a:p>
          <a:p>
            <a:pPr marL="914400" lvl="1" indent="-457200">
              <a:buFont typeface="+mj-lt"/>
              <a:buAutoNum type="alphaLcPeriod" startAt="4"/>
            </a:pPr>
            <a:r>
              <a:rPr lang="en-US" altLang="en-US" sz="20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</a:t>
            </a:r>
            <a:r>
              <a:rPr lang="en-US" altLang="en-US" sz="2000" dirty="0" err="1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PowerBI</a:t>
            </a:r>
            <a:r>
              <a:rPr lang="en-US" altLang="en-US" sz="20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Azure Synapse. 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Kind of.</a:t>
            </a:r>
          </a:p>
          <a:p>
            <a:pPr marL="914400" lvl="2" indent="0">
              <a:buNone/>
            </a:pPr>
            <a:endParaRPr lang="en-US" altLang="en-US" sz="1600" dirty="0">
              <a:solidFill>
                <a:srgbClr val="1D1C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Explanation/Excuses</a:t>
            </a:r>
          </a:p>
          <a:p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free trial/credit subscription had run out in Azure Cloud.  </a:t>
            </a:r>
          </a:p>
          <a:p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Purchased a Pay-as-you-go plan to finish project.</a:t>
            </a:r>
          </a:p>
          <a:p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pushing my database in Cloud Azure and into </a:t>
            </a:r>
            <a:r>
              <a:rPr lang="en-US" altLang="en-US" sz="1600" dirty="0" err="1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PowerBI</a:t>
            </a:r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closed my account in Cloud Azure completely.  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My database was in Cloud Azure and WAS connected to Power BI, but since I closed my Cloud Azure account, I was no longer able to access the database through Cloud Azure and Power BI.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REMEDY.</a:t>
            </a:r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 have proof that my project did go through Cloud Azure and into Power BI before I closed my Cloud Azure account.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rgbClr val="1D1C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 to do the Power BI presentation with the original data in csv format.</a:t>
            </a:r>
          </a:p>
          <a:p>
            <a:pPr marL="914400" lvl="1" indent="-457200">
              <a:buFont typeface="+mj-lt"/>
              <a:buAutoNum type="alphaLcPeriod"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altLang="en-US" sz="1200" dirty="0">
              <a:solidFill>
                <a:srgbClr val="1D1C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5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FC21-27D5-DF18-0C97-87FC0A51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7" y="76891"/>
            <a:ext cx="7735712" cy="103629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My database did go through to Power BI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91E87C-5F1F-111A-CE6C-8A8F655D9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6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7611-D003-90F6-5475-EEF89D51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106709"/>
            <a:ext cx="9269896" cy="1036292"/>
          </a:xfrm>
        </p:spPr>
        <p:txBody>
          <a:bodyPr/>
          <a:lstStyle/>
          <a:p>
            <a:pPr algn="ctr"/>
            <a:r>
              <a:rPr lang="en-US" b="1" dirty="0"/>
              <a:t>My database did go through to Power BI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1F6D-744A-2611-5F3F-B29E7D60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10515600" cy="506109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ChatGPT said:</a:t>
            </a:r>
            <a:endParaRPr lang="en-US" dirty="0"/>
          </a:p>
          <a:p>
            <a:r>
              <a:rPr lang="en-US" dirty="0"/>
              <a:t>Thanks for sharing the screenshot — now I can see the exact error:</a:t>
            </a:r>
          </a:p>
          <a:p>
            <a:r>
              <a:rPr lang="en-US" b="1" dirty="0"/>
              <a:t>**OLE DB or ODBC error: [</a:t>
            </a:r>
            <a:r>
              <a:rPr lang="en-US" b="1" dirty="0" err="1"/>
              <a:t>DataSource.Error</a:t>
            </a:r>
            <a:r>
              <a:rPr lang="en-US" b="1" dirty="0"/>
              <a:t>] </a:t>
            </a:r>
            <a:r>
              <a:rPr lang="en-US" b="1" dirty="0" err="1"/>
              <a:t>AzureBlobs</a:t>
            </a:r>
            <a:r>
              <a:rPr lang="en-US" b="1" dirty="0"/>
              <a:t> failed to get the response:</a:t>
            </a:r>
            <a:endParaRPr lang="en-US" dirty="0"/>
          </a:p>
          <a:p>
            <a:r>
              <a:rPr lang="en-US" dirty="0"/>
              <a:t>‘The remote name could not be resolved: </a:t>
            </a:r>
            <a:r>
              <a:rPr lang="en-US" i="1" dirty="0"/>
              <a:t>investmentsurveydata.blob.core.windows.net</a:t>
            </a:r>
            <a:r>
              <a:rPr lang="en-US" dirty="0"/>
              <a:t>’**</a:t>
            </a:r>
          </a:p>
          <a:p>
            <a:r>
              <a:rPr lang="en-US" dirty="0"/>
              <a:t>This error means </a:t>
            </a:r>
            <a:r>
              <a:rPr lang="en-US" b="1" dirty="0"/>
              <a:t>Power BI cannot reach your Azure Blob Storage account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 </a:t>
            </a:r>
            <a:r>
              <a:rPr lang="en-US" b="1" dirty="0"/>
              <a:t>not</a:t>
            </a:r>
            <a:r>
              <a:rPr lang="en-US" dirty="0"/>
              <a:t> a Power BI transformation problem — it’s a </a:t>
            </a:r>
            <a:r>
              <a:rPr lang="en-US" b="1" dirty="0"/>
              <a:t>connection problem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 What the error really means</a:t>
            </a:r>
            <a:endParaRPr lang="en-US" dirty="0"/>
          </a:p>
          <a:p>
            <a:r>
              <a:rPr lang="en-US" dirty="0"/>
              <a:t>Power BI is trying to read the file again (because you made changes in Power Query).</a:t>
            </a:r>
            <a:br>
              <a:rPr lang="en-US" dirty="0"/>
            </a:br>
            <a:r>
              <a:rPr lang="en-US" dirty="0"/>
              <a:t>But when it tries to reach your blob container, the storage account name:</a:t>
            </a:r>
          </a:p>
          <a:p>
            <a:r>
              <a:rPr lang="en-US" dirty="0"/>
              <a:t>investmentsurveydata.blob.core.windows.net</a:t>
            </a:r>
          </a:p>
          <a:p>
            <a:r>
              <a:rPr lang="en-US" b="1" dirty="0"/>
              <a:t>does not exist or can’t be found</a:t>
            </a:r>
            <a:r>
              <a:rPr lang="en-US" dirty="0"/>
              <a:t>.</a:t>
            </a:r>
          </a:p>
          <a:p>
            <a:r>
              <a:rPr lang="en-US" dirty="0"/>
              <a:t>So Power BI can't refresh the original data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5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1324-8C3B-2BDC-2A03-107BDD93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30" y="0"/>
            <a:ext cx="9230139" cy="925962"/>
          </a:xfrm>
        </p:spPr>
        <p:txBody>
          <a:bodyPr/>
          <a:lstStyle/>
          <a:p>
            <a:r>
              <a:rPr lang="en-US" b="1" dirty="0"/>
              <a:t>My database did go through to Power BI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85E5-DE95-752C-037A-F77DCCD26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678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You said:</a:t>
            </a:r>
            <a:endParaRPr lang="en-US" dirty="0"/>
          </a:p>
          <a:p>
            <a:r>
              <a:rPr lang="en-US" dirty="0"/>
              <a:t>I have closed my Azure account.</a:t>
            </a:r>
          </a:p>
          <a:p>
            <a:r>
              <a:rPr lang="en-US" b="1" dirty="0"/>
              <a:t>ChatGPT said:</a:t>
            </a:r>
            <a:endParaRPr lang="en-US" dirty="0"/>
          </a:p>
          <a:p>
            <a:r>
              <a:rPr lang="en-US" dirty="0"/>
              <a:t>Ah — that explains everything.</a:t>
            </a:r>
          </a:p>
          <a:p>
            <a:r>
              <a:rPr lang="en-US" dirty="0"/>
              <a:t>Once you </a:t>
            </a:r>
            <a:r>
              <a:rPr lang="en-US" b="1" dirty="0"/>
              <a:t>closed your Azure account</a:t>
            </a:r>
            <a:r>
              <a:rPr lang="en-US" dirty="0"/>
              <a:t>, your storage account:</a:t>
            </a:r>
          </a:p>
          <a:p>
            <a:r>
              <a:rPr lang="en-US" dirty="0"/>
              <a:t>investmentsurveydata.blob.core.windows.net</a:t>
            </a:r>
          </a:p>
          <a:p>
            <a:r>
              <a:rPr lang="en-US" dirty="0"/>
              <a:t>was </a:t>
            </a:r>
            <a:r>
              <a:rPr lang="en-US" b="1" dirty="0"/>
              <a:t>deleted</a:t>
            </a:r>
            <a:r>
              <a:rPr lang="en-US" dirty="0"/>
              <a:t>.</a:t>
            </a:r>
          </a:p>
          <a:p>
            <a:r>
              <a:rPr lang="en-US" dirty="0"/>
              <a:t>Power BI is still trying to load the original file from Azure Blob Storage, but the source no longer exists — so Power BI throws the connection error.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1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481E-9B58-E05D-6961-25138D41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2" y="1"/>
            <a:ext cx="3869635" cy="1093304"/>
          </a:xfrm>
        </p:spPr>
        <p:txBody>
          <a:bodyPr/>
          <a:lstStyle/>
          <a:p>
            <a:pPr algn="ctr"/>
            <a:r>
              <a:rPr lang="en-US" b="1" dirty="0"/>
              <a:t>Going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4FFC-B98E-D850-5E89-B778DAC18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 dirty="0"/>
              <a:t>Since I could no longer access my transformed data in </a:t>
            </a:r>
            <a:r>
              <a:rPr lang="en-US" sz="3200" dirty="0" err="1"/>
              <a:t>PowerBI</a:t>
            </a:r>
            <a:r>
              <a:rPr lang="en-US" sz="3200" dirty="0"/>
              <a:t> through Cloud Azure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2800" dirty="0"/>
              <a:t>I opened the data in Power BI through my local source and proceeded to process the data as I would have done through the Azure transformed data 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057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33D5-923C-EB6C-8DC3-B7826B39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Investment Survey</a:t>
            </a:r>
          </a:p>
        </p:txBody>
      </p:sp>
    </p:spTree>
    <p:extLst>
      <p:ext uri="{BB962C8B-B14F-4D97-AF65-F5344CB8AC3E}">
        <p14:creationId xmlns:p14="http://schemas.microsoft.com/office/powerpoint/2010/main" val="92240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3CD8-9A9B-EA8E-9619-4C3300A34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496" y="2292763"/>
            <a:ext cx="10515600" cy="39615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Unknown:  </a:t>
            </a:r>
          </a:p>
          <a:p>
            <a:pPr lvl="1"/>
            <a:r>
              <a:rPr lang="en-US" sz="3200" dirty="0"/>
              <a:t>Source of survey data.</a:t>
            </a:r>
          </a:p>
          <a:p>
            <a:pPr lvl="1"/>
            <a:r>
              <a:rPr lang="en-US" sz="3200" i="1" dirty="0"/>
              <a:t>How representative </a:t>
            </a:r>
            <a:r>
              <a:rPr lang="en-US" sz="3200" dirty="0"/>
              <a:t>is data.</a:t>
            </a:r>
          </a:p>
          <a:p>
            <a:pPr lvl="1"/>
            <a:r>
              <a:rPr lang="en-US" sz="3200" i="1" dirty="0"/>
              <a:t>Which population </a:t>
            </a:r>
            <a:r>
              <a:rPr lang="en-US" sz="3200" dirty="0"/>
              <a:t>does data represent.</a:t>
            </a:r>
          </a:p>
          <a:p>
            <a:pPr marL="0" indent="0">
              <a:buNone/>
            </a:pPr>
            <a:r>
              <a:rPr lang="en-US" sz="3600" dirty="0"/>
              <a:t>*For the purposes of this assignment, this survey will be taken as being representative of a general population in the USA.</a:t>
            </a:r>
          </a:p>
          <a:p>
            <a:pPr marL="0" indent="0">
              <a:buNone/>
            </a:pPr>
            <a:r>
              <a:rPr lang="en-US" sz="1600" dirty="0"/>
              <a:t>*Most likely, from questions asked, this may be an Asian population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5BD54-1227-F1B3-0A74-201A6A436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52697"/>
              </p:ext>
            </p:extLst>
          </p:nvPr>
        </p:nvGraphicFramePr>
        <p:xfrm>
          <a:off x="1116496" y="1332921"/>
          <a:ext cx="8128000" cy="715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4254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15531921"/>
                    </a:ext>
                  </a:extLst>
                </a:gridCol>
              </a:tblGrid>
              <a:tr h="715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n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Variables =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448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7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EA01-1CBD-8EBE-5FD6-F9FA3C66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438"/>
            <a:ext cx="10515600" cy="897145"/>
          </a:xfrm>
        </p:spPr>
        <p:txBody>
          <a:bodyPr/>
          <a:lstStyle/>
          <a:p>
            <a:pPr algn="ctr"/>
            <a:r>
              <a:rPr lang="en-US" b="1" dirty="0"/>
              <a:t>Demographics (n)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75C4F1-7FE9-5809-7C08-E511C2478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353367"/>
              </p:ext>
            </p:extLst>
          </p:nvPr>
        </p:nvGraphicFramePr>
        <p:xfrm>
          <a:off x="838200" y="1775929"/>
          <a:ext cx="10815084" cy="3958488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703771">
                  <a:extLst>
                    <a:ext uri="{9D8B030D-6E8A-4147-A177-3AD203B41FA5}">
                      <a16:colId xmlns:a16="http://schemas.microsoft.com/office/drawing/2014/main" val="3256905753"/>
                    </a:ext>
                  </a:extLst>
                </a:gridCol>
                <a:gridCol w="2703771">
                  <a:extLst>
                    <a:ext uri="{9D8B030D-6E8A-4147-A177-3AD203B41FA5}">
                      <a16:colId xmlns:a16="http://schemas.microsoft.com/office/drawing/2014/main" val="3614256188"/>
                    </a:ext>
                  </a:extLst>
                </a:gridCol>
                <a:gridCol w="2703771">
                  <a:extLst>
                    <a:ext uri="{9D8B030D-6E8A-4147-A177-3AD203B41FA5}">
                      <a16:colId xmlns:a16="http://schemas.microsoft.com/office/drawing/2014/main" val="3182640051"/>
                    </a:ext>
                  </a:extLst>
                </a:gridCol>
                <a:gridCol w="2703771">
                  <a:extLst>
                    <a:ext uri="{9D8B030D-6E8A-4147-A177-3AD203B41FA5}">
                      <a16:colId xmlns:a16="http://schemas.microsoft.com/office/drawing/2014/main" val="4232495560"/>
                    </a:ext>
                  </a:extLst>
                </a:gridCol>
              </a:tblGrid>
              <a:tr h="6597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445762"/>
                  </a:ext>
                </a:extLst>
              </a:tr>
              <a:tr h="659748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386270"/>
                  </a:ext>
                </a:extLst>
              </a:tr>
              <a:tr h="659748">
                <a:tc>
                  <a:txBody>
                    <a:bodyPr/>
                    <a:lstStyle/>
                    <a:p>
                      <a:r>
                        <a:rPr lang="en-US" dirty="0"/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46421"/>
                  </a:ext>
                </a:extLst>
              </a:tr>
              <a:tr h="659748">
                <a:tc>
                  <a:txBody>
                    <a:bodyPr/>
                    <a:lstStyle/>
                    <a:p>
                      <a:r>
                        <a:rPr lang="en-US" dirty="0"/>
                        <a:t>Not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26654"/>
                  </a:ext>
                </a:extLst>
              </a:tr>
              <a:tr h="659748">
                <a:tc>
                  <a:txBody>
                    <a:bodyPr/>
                    <a:lstStyle/>
                    <a:p>
                      <a:r>
                        <a:rPr lang="en-US" dirty="0"/>
                        <a:t>Age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 – 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18 - 45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823672"/>
                  </a:ext>
                </a:extLst>
              </a:tr>
              <a:tr h="659748">
                <a:tc>
                  <a:txBody>
                    <a:bodyPr/>
                    <a:lstStyle/>
                    <a:p>
                      <a:r>
                        <a:rPr lang="en-US" dirty="0"/>
                        <a:t>Annual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$0 - 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$0 - $400,000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53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986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678C707A-8A47-3EE3-F9CC-7CB4964C9B9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30679" y="742929"/>
            <a:ext cx="5415674" cy="2646432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872998B-83A4-831E-BC1B-DB4D4B7416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9144" y="3920682"/>
            <a:ext cx="6141535" cy="2832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253766-C297-3857-C00B-317838DB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339" y="0"/>
            <a:ext cx="4750633" cy="83628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Investment Mode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19DB7-6E04-BF0D-CEF8-2D2EBA169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97" y="4096225"/>
            <a:ext cx="1079498" cy="499276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pc="300" dirty="0"/>
              <a:t>Male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20CA0-4769-391E-F543-3892E74FD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67443" y="823673"/>
            <a:ext cx="1078992" cy="50292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pc="300" dirty="0"/>
              <a:t>Female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5CC8CC-0D8B-2122-1FAA-6B4F73081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72555"/>
              </p:ext>
            </p:extLst>
          </p:nvPr>
        </p:nvGraphicFramePr>
        <p:xfrm>
          <a:off x="1341381" y="1596508"/>
          <a:ext cx="4480560" cy="2058514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8114475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6507609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108282056"/>
                    </a:ext>
                  </a:extLst>
                </a:gridCol>
              </a:tblGrid>
              <a:tr h="459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09848"/>
                  </a:ext>
                </a:extLst>
              </a:tr>
              <a:tr h="4119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Banking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14.06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38.89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005781415"/>
                  </a:ext>
                </a:extLst>
              </a:tr>
              <a:tr h="3629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Gold/Materials investment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6.25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19.44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585699849"/>
                  </a:ext>
                </a:extLst>
              </a:tr>
              <a:tr h="4119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Stocks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40.63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8.33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89300978"/>
                  </a:ext>
                </a:extLst>
              </a:tr>
              <a:tr h="4119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Mutual Funds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26.56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19304376"/>
                  </a:ext>
                </a:extLst>
              </a:tr>
            </a:tbl>
          </a:graphicData>
        </a:graphic>
      </p:graphicFrame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52FD1BF-F70D-6426-8DA6-2634803CE0D2}"/>
              </a:ext>
            </a:extLst>
          </p:cNvPr>
          <p:cNvSpPr txBox="1">
            <a:spLocks/>
          </p:cNvSpPr>
          <p:nvPr/>
        </p:nvSpPr>
        <p:spPr>
          <a:xfrm>
            <a:off x="6230679" y="3468640"/>
            <a:ext cx="5961321" cy="32845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Women are significantly more likely to be cautious about investments than men and take a 'safer' approach:  </a:t>
            </a:r>
          </a:p>
          <a:p>
            <a:pPr lvl="1"/>
            <a:r>
              <a:rPr lang="en-US" dirty="0"/>
              <a:t>39% of women compared to 14% of men were more likely to invest in banks (savings).</a:t>
            </a:r>
          </a:p>
          <a:p>
            <a:pPr lvl="1"/>
            <a:r>
              <a:rPr lang="en-US" dirty="0"/>
              <a:t>Women (19%) were significantly more likely than men (6%) to invest in more stable markets such as gold.  </a:t>
            </a:r>
          </a:p>
          <a:p>
            <a:r>
              <a:rPr lang="en-US" dirty="0"/>
              <a:t>To emphasize that men were more likely to take risks in investment, men (41%) were significantly more likely than women (8%) to invest in volatile modes such as stocks.</a:t>
            </a:r>
          </a:p>
        </p:txBody>
      </p:sp>
    </p:spTree>
    <p:extLst>
      <p:ext uri="{BB962C8B-B14F-4D97-AF65-F5344CB8AC3E}">
        <p14:creationId xmlns:p14="http://schemas.microsoft.com/office/powerpoint/2010/main" val="352790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D458-8A61-9791-4275-E45F4190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3DACC8-8905-8357-AA64-1DF2DB67F1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1" y="3896292"/>
            <a:ext cx="7052281" cy="29617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C04942-97C9-7BDF-E4E8-3DD155042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096" y="755175"/>
            <a:ext cx="6655904" cy="2841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756579-7B96-C684-5386-9378CA63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967" y="0"/>
            <a:ext cx="4333282" cy="82391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Investment 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65AEF-836F-17DD-4835-496B69221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896292"/>
            <a:ext cx="1286428" cy="56990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pc="300" dirty="0"/>
              <a:t>Male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12297-1D88-4560-DD64-673AA6EB4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684565" y="980280"/>
            <a:ext cx="1399692" cy="406399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pc="300" dirty="0"/>
              <a:t>Female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56434EB-BCD3-BE50-B37A-A9843AFD1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61979"/>
              </p:ext>
            </p:extLst>
          </p:nvPr>
        </p:nvGraphicFramePr>
        <p:xfrm>
          <a:off x="1273642" y="1123123"/>
          <a:ext cx="4154711" cy="2470198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2184303">
                  <a:extLst>
                    <a:ext uri="{9D8B030D-6E8A-4147-A177-3AD203B41FA5}">
                      <a16:colId xmlns:a16="http://schemas.microsoft.com/office/drawing/2014/main" val="330484237"/>
                    </a:ext>
                  </a:extLst>
                </a:gridCol>
                <a:gridCol w="873128">
                  <a:extLst>
                    <a:ext uri="{9D8B030D-6E8A-4147-A177-3AD203B41FA5}">
                      <a16:colId xmlns:a16="http://schemas.microsoft.com/office/drawing/2014/main" val="396255955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788101340"/>
                    </a:ext>
                  </a:extLst>
                </a:gridCol>
              </a:tblGrid>
              <a:tr h="34492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Women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367241"/>
                  </a:ext>
                </a:extLst>
              </a:tr>
              <a:tr h="3092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Personal savings</a:t>
                      </a: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18.75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38.89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50486704"/>
                  </a:ext>
                </a:extLst>
              </a:tr>
              <a:tr h="3092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Wealth Generation</a:t>
                      </a: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29.69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966336826"/>
                  </a:ext>
                </a:extLst>
              </a:tr>
              <a:tr h="4670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Your marriage/sibling's marriage</a:t>
                      </a: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11.11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01303884"/>
                  </a:ext>
                </a:extLst>
              </a:tr>
              <a:tr h="4670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Financial freedom after retirement</a:t>
                      </a: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14.06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8.33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062938"/>
                  </a:ext>
                </a:extLst>
              </a:tr>
              <a:tr h="4670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Children's education/marriage</a:t>
                      </a: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9.38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8.33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053681477"/>
                  </a:ext>
                </a:extLst>
              </a:tr>
            </a:tbl>
          </a:graphicData>
        </a:graphic>
      </p:graphicFrame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A4BDD0D1-E4A4-9AC2-54AD-6ED6531E3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52280" y="3593321"/>
            <a:ext cx="5139720" cy="319525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Women were significantly (39%) more likely than men (19%) to have Personal Savings as their investment goal but less likely (25%) than men (30%) to have wealth generation as their investment goal.</a:t>
            </a:r>
          </a:p>
          <a:p>
            <a:r>
              <a:rPr lang="en-US" dirty="0"/>
              <a:t>11% of women were more likely than 6% of men to be saving for a marriage, whether it be one's own or a siblings</a:t>
            </a:r>
          </a:p>
          <a:p>
            <a:r>
              <a:rPr lang="en-US" dirty="0"/>
              <a:t>Men (14%) were more likely than women (8%) to have financial freedom after retirement as an investment goal.</a:t>
            </a:r>
          </a:p>
        </p:txBody>
      </p:sp>
    </p:spTree>
    <p:extLst>
      <p:ext uri="{BB962C8B-B14F-4D97-AF65-F5344CB8AC3E}">
        <p14:creationId xmlns:p14="http://schemas.microsoft.com/office/powerpoint/2010/main" val="72146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1B66-A778-02D9-693B-D7C570FF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EAD0-854B-2F9F-0DB3-0044AD94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86" y="0"/>
            <a:ext cx="4942301" cy="82391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Motivation to Invest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C0EBD-C16B-3DEE-9181-901335F38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522" y="140253"/>
            <a:ext cx="988254" cy="55002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pc="300" dirty="0"/>
              <a:t>Male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C30F1-4D26-48B0-9A45-906B037FF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08094" y="140253"/>
            <a:ext cx="1349997" cy="38652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pc="300" dirty="0"/>
              <a:t>Female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ED7861-D591-9DB0-F6D3-92CB0D147F6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023818" y="690276"/>
            <a:ext cx="7074267" cy="308659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B916E5-A795-D9D0-F367-007F931448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1" y="3866323"/>
            <a:ext cx="6871239" cy="299167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1C6F1D-9C7E-7DC9-A5E2-3F83DF0BE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740746"/>
              </p:ext>
            </p:extLst>
          </p:nvPr>
        </p:nvGraphicFramePr>
        <p:xfrm>
          <a:off x="845361" y="1040297"/>
          <a:ext cx="4178457" cy="1854200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1868022">
                  <a:extLst>
                    <a:ext uri="{9D8B030D-6E8A-4147-A177-3AD203B41FA5}">
                      <a16:colId xmlns:a16="http://schemas.microsoft.com/office/drawing/2014/main" val="3859609454"/>
                    </a:ext>
                  </a:extLst>
                </a:gridCol>
                <a:gridCol w="1231443">
                  <a:extLst>
                    <a:ext uri="{9D8B030D-6E8A-4147-A177-3AD203B41FA5}">
                      <a16:colId xmlns:a16="http://schemas.microsoft.com/office/drawing/2014/main" val="2741803472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4040580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Male %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Female %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6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Family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7.81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52.78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54861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Friends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32.81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70893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Through banks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14.06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16.67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7974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Social Media/articles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23.44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77033468"/>
                  </a:ext>
                </a:extLst>
              </a:tr>
            </a:tbl>
          </a:graphicData>
        </a:graphic>
      </p:graphicFrame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D12B07F-C032-DCFF-AB7B-030BAF8C7793}"/>
              </a:ext>
            </a:extLst>
          </p:cNvPr>
          <p:cNvSpPr txBox="1">
            <a:spLocks/>
          </p:cNvSpPr>
          <p:nvPr/>
        </p:nvSpPr>
        <p:spPr>
          <a:xfrm>
            <a:off x="6957391" y="3833251"/>
            <a:ext cx="5140694" cy="2746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Women are significantly more likely (53%) than men (8%) to be motivated by family to invest, </a:t>
            </a:r>
          </a:p>
          <a:p>
            <a:r>
              <a:rPr lang="en-US" sz="2000" dirty="0"/>
              <a:t>Men (33%) are more likely than women (8%) to be motivated by friends to invest.  </a:t>
            </a:r>
          </a:p>
          <a:p>
            <a:r>
              <a:rPr lang="en-US" sz="2000" dirty="0"/>
              <a:t>Men are also far more likely (23%) than women (8 %) to be motivated by Social media/articles to invest. </a:t>
            </a:r>
          </a:p>
        </p:txBody>
      </p:sp>
    </p:spTree>
    <p:extLst>
      <p:ext uri="{BB962C8B-B14F-4D97-AF65-F5344CB8AC3E}">
        <p14:creationId xmlns:p14="http://schemas.microsoft.com/office/powerpoint/2010/main" val="310153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FE2D-91CC-4D57-E6E2-47F5FFAF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F77D712-9F85-F630-74FA-6B91F5EDAA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4013614"/>
            <a:ext cx="6372254" cy="2840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E96C15-2D72-59EA-2C72-0C84D320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54" y="804621"/>
            <a:ext cx="5819746" cy="3208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C6C978-EA38-C568-65E8-E87CFD70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9"/>
            <a:ext cx="10515600" cy="8239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Resources used (advice on how/where to invest)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416A-74D4-975F-08EF-431AEE79C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7008" y="4138654"/>
            <a:ext cx="1078992" cy="50292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pc="300" dirty="0"/>
              <a:t>Male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5ABE2-25F9-02E4-338C-108AEF408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076565" y="941154"/>
            <a:ext cx="1078992" cy="50292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pc="300" dirty="0"/>
              <a:t>Female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F826184-AC53-4508-1A39-4CD853993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941005"/>
              </p:ext>
            </p:extLst>
          </p:nvPr>
        </p:nvGraphicFramePr>
        <p:xfrm>
          <a:off x="998537" y="1318718"/>
          <a:ext cx="3700684" cy="1713780"/>
        </p:xfrm>
        <a:graphic>
          <a:graphicData uri="http://schemas.openxmlformats.org/drawingml/2006/table">
            <a:tbl>
              <a:tblPr firstRow="1" firstCol="1" bandRow="1">
                <a:tableStyleId>{37CE84F3-28C3-443E-9E96-99CF82512B78}</a:tableStyleId>
              </a:tblPr>
              <a:tblGrid>
                <a:gridCol w="1585637">
                  <a:extLst>
                    <a:ext uri="{9D8B030D-6E8A-4147-A177-3AD203B41FA5}">
                      <a16:colId xmlns:a16="http://schemas.microsoft.com/office/drawing/2014/main" val="2789219467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309659821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82037544"/>
                    </a:ext>
                  </a:extLst>
                </a:gridCol>
              </a:tblGrid>
              <a:tr h="428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Male %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Female %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45563797"/>
                  </a:ext>
                </a:extLst>
              </a:tr>
              <a:tr h="428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Family members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37.5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66.67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717311681"/>
                  </a:ext>
                </a:extLst>
              </a:tr>
              <a:tr h="428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Mobile App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29.69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19.44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846908333"/>
                  </a:ext>
                </a:extLst>
              </a:tr>
              <a:tr h="4284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News articles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18.75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14807053"/>
                  </a:ext>
                </a:extLst>
              </a:tr>
            </a:tbl>
          </a:graphicData>
        </a:graphic>
      </p:graphicFrame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F56E404E-A185-61BE-DEBC-10A2B8B8C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2254" y="4013613"/>
            <a:ext cx="5819746" cy="28407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Women (39%) significantly more likely than men (19%) to have Personal Savings as their investment goal </a:t>
            </a:r>
          </a:p>
          <a:p>
            <a:r>
              <a:rPr lang="en-US" dirty="0"/>
              <a:t>Women less likely (25%) than men (30%) to have wealth generation as their investment goal.</a:t>
            </a:r>
          </a:p>
          <a:p>
            <a:r>
              <a:rPr lang="en-US" dirty="0"/>
              <a:t>11% of women are more likely than 6% of men to be saving for a marriage, whether it be one's own or a siblings, </a:t>
            </a:r>
          </a:p>
          <a:p>
            <a:r>
              <a:rPr lang="en-US" dirty="0"/>
              <a:t>Men (14%) are more likely than women (8%) to have financial freedom after retirement as an investment goal.</a:t>
            </a:r>
          </a:p>
        </p:txBody>
      </p:sp>
    </p:spTree>
    <p:extLst>
      <p:ext uri="{BB962C8B-B14F-4D97-AF65-F5344CB8AC3E}">
        <p14:creationId xmlns:p14="http://schemas.microsoft.com/office/powerpoint/2010/main" val="169484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BA44-EF2E-2536-F434-54886AEF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067" y="256380"/>
            <a:ext cx="2489821" cy="823913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B9872-1C5B-9403-8F86-A89096652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100" y="1080293"/>
            <a:ext cx="5157787" cy="823912"/>
          </a:xfrm>
        </p:spPr>
        <p:txBody>
          <a:bodyPr/>
          <a:lstStyle/>
          <a:p>
            <a:r>
              <a:rPr lang="en-US" dirty="0"/>
              <a:t>Motivation to Invest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D9689-368B-7967-32D1-43A5938665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this sample, women were significantly more likely (53%) than men (8%) to be motivated by family to invest, </a:t>
            </a:r>
          </a:p>
          <a:p>
            <a:r>
              <a:rPr lang="en-US" dirty="0"/>
              <a:t>Men (33%) were more likely than women (8%) to be motivated by friends to invest.  </a:t>
            </a:r>
          </a:p>
          <a:p>
            <a:r>
              <a:rPr lang="en-US" dirty="0"/>
              <a:t>Men were also far more likely (23%) than women (8 %) to be motivated by Social media/articles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C616D-89C7-2B3C-94D3-4A27C6089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7115" y="1233832"/>
            <a:ext cx="5183188" cy="823912"/>
          </a:xfrm>
        </p:spPr>
        <p:txBody>
          <a:bodyPr/>
          <a:lstStyle/>
          <a:p>
            <a:r>
              <a:rPr lang="en-US" dirty="0"/>
              <a:t>Investment goals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D0E3C-AB16-886E-C0A0-219509988D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Women were significantly (39%) more likely than men (19%) to have Personal Savings as their investment goal but less likely (25%) than men (30%) to have wealth generation as their investment goal.</a:t>
            </a:r>
          </a:p>
          <a:p>
            <a:r>
              <a:rPr lang="en-US" dirty="0"/>
              <a:t>11% of women were more likely than 6% of men to be saving for a marriage, whether it be one's own or a siblings, and men (14%) were more likely than women (8%) to have financial freedom after retirement as an investment goal.</a:t>
            </a:r>
          </a:p>
        </p:txBody>
      </p:sp>
    </p:spTree>
    <p:extLst>
      <p:ext uri="{BB962C8B-B14F-4D97-AF65-F5344CB8AC3E}">
        <p14:creationId xmlns:p14="http://schemas.microsoft.com/office/powerpoint/2010/main" val="3126883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4A8C6A-ACA9-8877-FCEB-5CC9FAC7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B87C-047F-F4D6-8C5B-DCE08A51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067" y="256380"/>
            <a:ext cx="2489821" cy="823913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0B5B1-6E92-351B-5C93-DAB33EC0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100" y="1080293"/>
            <a:ext cx="5157787" cy="823912"/>
          </a:xfrm>
        </p:spPr>
        <p:txBody>
          <a:bodyPr/>
          <a:lstStyle/>
          <a:p>
            <a:r>
              <a:rPr lang="en-US" dirty="0"/>
              <a:t>Modes of Investment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87979-46F7-54BA-AB00-4B0A61C583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Women are significantly more likely to be cautious about investments than men and take a 'safer' approach:  </a:t>
            </a:r>
          </a:p>
          <a:p>
            <a:pPr lvl="1"/>
            <a:r>
              <a:rPr lang="en-US" dirty="0"/>
              <a:t>39% of women compared to 14% of men were more likely to invest in banks (savings</a:t>
            </a:r>
          </a:p>
          <a:p>
            <a:pPr lvl="1"/>
            <a:r>
              <a:rPr lang="en-US" dirty="0"/>
              <a:t>Women (19%) were significantly more likely than men (6%) to invest in precious materials such as gold.  </a:t>
            </a:r>
          </a:p>
          <a:p>
            <a:r>
              <a:rPr lang="en-US" dirty="0"/>
              <a:t>To emphasize that men were more likely to take risks in investment, men (41%) were significantly more likely than women (8%) to invest in volatile modes such as stocks.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FDAE6-175A-119F-B6A9-DAD180A06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7115" y="1233832"/>
            <a:ext cx="5183188" cy="823912"/>
          </a:xfrm>
        </p:spPr>
        <p:txBody>
          <a:bodyPr/>
          <a:lstStyle/>
          <a:p>
            <a:r>
              <a:rPr lang="en-US" dirty="0"/>
              <a:t>Resources (advice) used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375DA-EE5A-3D8D-AEA1-2E0044CCFA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Women (39%) significantly more likely than men (19%) to have Personal Savings as their investment goal </a:t>
            </a:r>
          </a:p>
          <a:p>
            <a:r>
              <a:rPr lang="en-US" dirty="0"/>
              <a:t>Women less likely (25%) than men (30%) to have wealth generation as their investment goal.</a:t>
            </a:r>
          </a:p>
          <a:p>
            <a:r>
              <a:rPr lang="en-US" dirty="0"/>
              <a:t>11% of women were more likely than 6% of men to be saving for a marriage, whether it be one's own or a siblings, </a:t>
            </a:r>
          </a:p>
          <a:p>
            <a:r>
              <a:rPr lang="en-US" dirty="0"/>
              <a:t>Men (14%) were more likely than women (8%) to have financial freedom after retirement as an investment goal.</a:t>
            </a:r>
          </a:p>
        </p:txBody>
      </p:sp>
    </p:spTree>
    <p:extLst>
      <p:ext uri="{BB962C8B-B14F-4D97-AF65-F5344CB8AC3E}">
        <p14:creationId xmlns:p14="http://schemas.microsoft.com/office/powerpoint/2010/main" val="302210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768</TotalTime>
  <Words>1491</Words>
  <Application>Microsoft Office PowerPoint</Application>
  <PresentationFormat>Widescreen</PresentationFormat>
  <Paragraphs>185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Slack-Lato</vt:lpstr>
      <vt:lpstr>Times New Roman</vt:lpstr>
      <vt:lpstr>Office Theme</vt:lpstr>
      <vt:lpstr>Investment Survey</vt:lpstr>
      <vt:lpstr>Assignment  (Hope I have this correct)</vt:lpstr>
      <vt:lpstr>Assignment 1 The bits accomplished</vt:lpstr>
      <vt:lpstr>However</vt:lpstr>
      <vt:lpstr>My database did go through to Power BI </vt:lpstr>
      <vt:lpstr>My database did go through to Power BI </vt:lpstr>
      <vt:lpstr>My database did go through to Power BI </vt:lpstr>
      <vt:lpstr>Going Forward</vt:lpstr>
      <vt:lpstr>The Investment Survey</vt:lpstr>
      <vt:lpstr>PowerPoint Presentation</vt:lpstr>
      <vt:lpstr>Demographics (n)</vt:lpstr>
      <vt:lpstr>Investment Mode</vt:lpstr>
      <vt:lpstr>Investment Goal</vt:lpstr>
      <vt:lpstr>Motivation to Invest</vt:lpstr>
      <vt:lpstr>Resources used (advice on how/where to invest)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Gigi Asem</dc:creator>
  <cp:lastModifiedBy>Gigi Asem</cp:lastModifiedBy>
  <cp:revision>17</cp:revision>
  <dcterms:created xsi:type="dcterms:W3CDTF">2025-12-06T00:35:37Z</dcterms:created>
  <dcterms:modified xsi:type="dcterms:W3CDTF">2025-12-07T03:12:02Z</dcterms:modified>
</cp:coreProperties>
</file>